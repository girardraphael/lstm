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A202"/>
                </a:solidFill>
                <a:latin typeface="Consolas"/>
              </a:rPr>
              <a:t>TRAFFIC OBSERVATORY · 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4EFE6"/>
                </a:solidFill>
                <a:latin typeface="Georgia"/>
              </a:rPr>
              <a:t>Forecast the next hour of traffic.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4EFE6"/>
                </a:solidFill>
                <a:latin typeface="Georgia"/>
              </a:rPr>
              <a:t>See every neuron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FA3B8"/>
                </a:solidFill>
                <a:latin typeface="Calibri"/>
              </a:rPr>
              <a:t>A stacked LSTM trained on 40,575 hours of motorway traffic — evaluated honestly against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FA3B8"/>
                </a:solidFill>
                <a:latin typeface="Calibri"/>
              </a:rPr>
              <a:t>naive rules and gradient boosting, then opened gate by gate so the mechanism is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B8"/>
                </a:solidFill>
                <a:latin typeface="Calibri"/>
              </a:rPr>
              <a:t>Raphael Girard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760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EC4B6"/>
                </a:solidFill>
                <a:latin typeface="Consolas"/>
              </a:rPr>
              <a:t>github.com/GirardRaphael/lstm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Traffic is a time series with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2EC4B6"/>
                </a:solidFill>
                <a:latin typeface="Calibri"/>
              </a:rPr>
              <a:t>▸ The task — </a:t>
            </a:r>
            <a:r>
              <a:rPr sz="1700">
                <a:solidFill>
                  <a:srgbClr val="F4EFE6"/>
                </a:solidFill>
                <a:latin typeface="Calibri"/>
              </a:rPr>
              <a:t>predict how many vehicles pass in the next hour, from the last 24 hours.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2EC4B6"/>
                </a:solidFill>
                <a:latin typeface="Calibri"/>
              </a:rPr>
              <a:t>▸ Why it matters — </a:t>
            </a:r>
            <a:r>
              <a:rPr sz="1700">
                <a:solidFill>
                  <a:srgbClr val="F4EFE6"/>
                </a:solidFill>
                <a:latin typeface="Calibri"/>
              </a:rPr>
              <a:t>signal timing, staffing, and incident response all consume a forecast — a wrong one costs real minutes.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2EC4B6"/>
                </a:solidFill>
                <a:latin typeface="Calibri"/>
              </a:rPr>
              <a:t>▸ The constraint — </a:t>
            </a:r>
            <a:r>
              <a:rPr sz="1700">
                <a:solidFill>
                  <a:srgbClr val="F4EFE6"/>
                </a:solidFill>
                <a:latin typeface="Calibri"/>
              </a:rPr>
              <a:t>in production you only ever have the past. Any evaluation that leaks the future is fiction.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2EC4B6"/>
                </a:solidFill>
                <a:latin typeface="Calibri"/>
              </a:rPr>
              <a:t>▸ The bar to clear — </a:t>
            </a:r>
            <a:r>
              <a:rPr sz="1700">
                <a:solidFill>
                  <a:srgbClr val="F4EFE6"/>
                </a:solidFill>
                <a:latin typeface="Calibri"/>
              </a:rPr>
              <a:t>the model must beat “last hour” and “same hour yesterday” — otherwise the honest answer is: don't use a neural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Supervised regression · target = vehicles per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02 · WHY LSTM IS THE RIGHT ALGORITHM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Traffic has memory. LSTM is built for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Ordered dependence — </a:t>
            </a:r>
            <a:r>
              <a:rPr sz="1550">
                <a:solidFill>
                  <a:srgbClr val="F4EFE6"/>
                </a:solidFill>
                <a:latin typeface="Calibri"/>
              </a:rPr>
              <a:t>rush hour builds over hours — 8h ago still matters. A feed-forward net sees a flat vector; an LSTM carries a cell state through the sequence and decides what to keep.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Selective memory is inspectable — </a:t>
            </a:r>
            <a:r>
              <a:rPr sz="1550">
                <a:solidFill>
                  <a:srgbClr val="F4EFE6"/>
                </a:solidFill>
                <a:latin typeface="Calibri"/>
              </a:rPr>
              <a:t>forget / input / output gates are explicit multiplicative valves. We can read them — and this project does, neuron by neuron.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Long-range without explosion — </a:t>
            </a:r>
            <a:r>
              <a:rPr sz="1550">
                <a:solidFill>
                  <a:srgbClr val="F4EFE6"/>
                </a:solidFill>
                <a:latin typeface="Calibri"/>
              </a:rPr>
              <a:t>the cell state's additive update (c = f·c + i·g) avoids the vanishing gradient that kills plain RNNs on 24-step sequences.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Multivariate &amp; multi-horizon ready — </a:t>
            </a:r>
            <a:r>
              <a:rPr sz="1550">
                <a:solidFill>
                  <a:srgbClr val="F4EFE6"/>
                </a:solidFill>
                <a:latin typeface="Calibri"/>
              </a:rPr>
              <a:t>weather, calendar, and horizons 1/3/6 drop in as extra channels — no feature re-engineering.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Proven on this data — </a:t>
            </a:r>
            <a:r>
              <a:rPr sz="1550">
                <a:solidFill>
                  <a:srgbClr val="F4EFE6"/>
                </a:solidFill>
                <a:latin typeface="Calibri"/>
              </a:rPr>
              <a:t>beats both naive baselines by ~61% and wins outright on the second dataset (bike sharing).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Hochreiter &amp; Schmidhuber, 1997 — applied to hourly traffic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03 · THE HONEST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What else could we have used?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017520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4EFE6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4EFE6"/>
                          </a:solidFill>
                          <a:latin typeface="Calibri"/>
                        </a:rPr>
                        <a:t>Why not (or when)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4EFE6"/>
                          </a:solidFill>
                          <a:latin typeface="Calibri"/>
                        </a:rPr>
                        <a:t>Verdict on this data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Persistence / seasonal naive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No learning at all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MAE 585.6 / 594.3 — floor to beat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ARIMA-style linear models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Linear, one series, no exogenous memory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Cannot hold 24h of context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XGBoost on lag features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Strong tabular baseline — but windows are flattened; temporal order is implicit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MAE 154.3 — wins on motorway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Stacked LSTM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Native sequence memory, inspectable gates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4EFE6"/>
                          </a:solidFill>
                          <a:latin typeface="Calibri"/>
                        </a:rPr>
                        <a:t>MAE 201.4 — wins on bike sharing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FA3B8"/>
                </a:solidFill>
                <a:latin typeface="Calibri"/>
              </a:rPr>
              <a:t>Engineering stance: XGBoost is the champion baseline; the LSTM is the challenger that explains itself.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FA3B8"/>
                </a:solidFill>
                <a:latin typeface="Calibri"/>
              </a:rPr>
              <a:t>Where temporal structure dominates (bike rentals), the LSTM wins. The tool choice is empirical — measured, not argued.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Both families evaluated on identical chronological tensors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04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40,575 real hours of motorway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A202"/>
                </a:solidFill>
                <a:latin typeface="Georgia"/>
              </a:rPr>
              <a:t>48,204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FE6"/>
                </a:solidFill>
                <a:latin typeface="Calibri"/>
              </a:rPr>
              <a:t>raw hourly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UCI Metro Interstate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848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A202"/>
                </a:solidFill>
                <a:latin typeface="Georgia"/>
              </a:rPr>
              <a:t>40,575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FE6"/>
                </a:solidFill>
                <a:latin typeface="Calibri"/>
              </a:rPr>
              <a:t>unique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186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duplicates averaged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848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A202"/>
                </a:solidFill>
                <a:latin typeface="Georgia"/>
              </a:rPr>
              <a:t>6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FE6"/>
                </a:solidFill>
                <a:latin typeface="Calibri"/>
              </a:rPr>
              <a:t>2012 →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186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I-94 Minneapolis–St Paul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920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848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0A202"/>
                </a:solidFill>
                <a:latin typeface="Georgia"/>
              </a:rPr>
              <a:t>2,588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EFE6"/>
                </a:solidFill>
                <a:latin typeface="Calibri"/>
              </a:rPr>
              <a:t>gaps disclosed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2186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incl. a 308-day outage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Cleaning contract — </a:t>
            </a:r>
            <a:r>
              <a:rPr sz="1500">
                <a:solidFill>
                  <a:srgbClr val="F4EFE6"/>
                </a:solidFill>
                <a:latin typeface="Calibri"/>
              </a:rPr>
              <a:t>sort chronologically, collapse duplicate timestamps by averaging, never interpolate missing periods.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The disclosed flaw — </a:t>
            </a:r>
            <a:r>
              <a:rPr sz="1500">
                <a:solidFill>
                  <a:srgbClr val="F4EFE6"/>
                </a:solidFill>
                <a:latin typeface="Calibri"/>
              </a:rPr>
              <a:t>28.7% of training windows span a time gap — measured, published, and guarded with --drop-gapped-windows.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UCI Machine Learning Repository · Metro Interstate Traffic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05 ·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24 hours in, one number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EFE6"/>
                </a:solidFill>
                <a:latin typeface="Calibri"/>
              </a:rPr>
              <a:t>24 past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input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1031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EFE6"/>
                </a:solidFill>
                <a:latin typeface="Calibri"/>
              </a:rPr>
              <a:t>LSTM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first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21031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EFE6"/>
                </a:solidFill>
                <a:latin typeface="Calibri"/>
              </a:rPr>
              <a:t>LSTM 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6974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compressed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031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EFE6"/>
                </a:solidFill>
                <a:latin typeface="Calibri"/>
              </a:rPr>
              <a:t>Dense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974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decision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031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0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2860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EFE6"/>
                </a:solidFill>
                <a:latin typeface="Calibri"/>
              </a:rPr>
              <a:t>1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FA3B8"/>
                </a:solidFill>
                <a:latin typeface="Calibri"/>
              </a:rPr>
              <a:t>vehicles next 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661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89,573 parameters — </a:t>
            </a:r>
            <a:r>
              <a:rPr sz="1500">
                <a:solidFill>
                  <a:srgbClr val="F4EFE6"/>
                </a:solidFill>
                <a:latin typeface="Calibri"/>
              </a:rPr>
              <a:t>64-unit layer reads the day; 32-unit layer compresses it; the dense head prices it.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Dropout 0.20 between layers — </a:t>
            </a:r>
            <a:r>
              <a:rPr sz="1500">
                <a:solidFill>
                  <a:srgbClr val="F4EFE6"/>
                </a:solidFill>
                <a:latin typeface="Calibri"/>
              </a:rPr>
              <a:t>regularisation chosen by ablation, not habit.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Linear output — </a:t>
            </a:r>
            <a:r>
              <a:rPr sz="1500">
                <a:solidFill>
                  <a:srgbClr val="F4EFE6"/>
                </a:solidFill>
                <a:latin typeface="Calibri"/>
              </a:rPr>
              <a:t>regression — the answer is a count, not a class.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Adam + early stopping — </a:t>
            </a:r>
            <a:r>
              <a:rPr sz="1500">
                <a:solidFill>
                  <a:srgbClr val="F4EFE6"/>
                </a:solidFill>
                <a:latin typeface="Calibri"/>
              </a:rPr>
              <a:t>validation loss decides when to quit; the calendar run stopped at epoch 36 of 100.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Keras / TensorFlow 2.21 · CPU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06 · PIPELINE HONESTY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Split first. Fit nothing on the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Chronological partitions — </a:t>
            </a:r>
            <a:r>
              <a:rPr sz="1550">
                <a:solidFill>
                  <a:srgbClr val="F4EFE6"/>
                </a:solidFill>
                <a:latin typeface="Calibri"/>
              </a:rPr>
              <a:t>raw timestamps split into fit / validation / test before any transform is fitted — the scaler never sees validation or test rows.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Complete windows or nothing — </a:t>
            </a:r>
            <a:r>
              <a:rPr sz="1550">
                <a:solidFill>
                  <a:srgbClr val="F4EFE6"/>
                </a:solidFill>
                <a:latin typeface="Calibri"/>
              </a:rPr>
              <a:t>a window with a missing hour is excluded and counted by reason — never imputed.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Boundary purge — </a:t>
            </a:r>
            <a:r>
              <a:rPr sz="1550">
                <a:solidFill>
                  <a:srgbClr val="F4EFE6"/>
                </a:solidFill>
                <a:latin typeface="Calibri"/>
              </a:rPr>
              <a:t>any training example whose target crosses into validation is dropped. History may be context; it may not be a label.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Timestamp-true baselines — </a:t>
            </a:r>
            <a:r>
              <a:rPr sz="1550">
                <a:solidFill>
                  <a:srgbClr val="F4EFE6"/>
                </a:solidFill>
                <a:latin typeface="Calibri"/>
              </a:rPr>
              <a:t>“same hour yesterday” is looked up by wall-clock timestamp, not row offset.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Versioned, hash-verified packages — </a:t>
            </a:r>
            <a:r>
              <a:rPr sz="1550">
                <a:solidFill>
                  <a:srgbClr val="F4EFE6"/>
                </a:solidFill>
                <a:latin typeface="Calibri"/>
              </a:rPr>
              <a:t>model + scalers + units + cadence + dataset SHA256 travel together; corrupted artifacts are rejected on 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18/18 temporal tests · 18/18 pipeline tests — verified 2026-09-20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07 · RESULTS — MOTORWAY (MAE, VEHICLES/HOUR, LOWER IS BETTER)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The measured league 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017520"/>
                <a:gridCol w="1463040"/>
                <a:gridCol w="16459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vs best naive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Train time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XGBoost + calendar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traffic + hour/weekday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154.3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−73.7%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14 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LSTM + calendar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traffic + hour/weekday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201.4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−65.6%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688 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LSTM traffic only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24 past hours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228.8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−60.9%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1,072 s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Naive: same hour yesterday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594.3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Naive: last hour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585.6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FA3B8"/>
                </a:solidFill>
                <a:latin typeface="Calibri"/>
              </a:rPr>
              <a:t>Every model beats the naive rules by a wide margin — the neural network earns its place.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FA3B8"/>
                </a:solidFill>
                <a:latin typeface="Calibri"/>
              </a:rPr>
              <a:t>XGBoost is stronger on this dataset; that is a measured fact, and it is part of the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Identical chronological split · identical eligible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08 · THE VERDICT FLIPS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Second dataset, opposite winner.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011680"/>
                <a:gridCol w="201168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  <a:latin typeface="Calibri"/>
                        </a:rPr>
                        <a:t>Bike-sharing (hourly rentals)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Univariate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41.3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43.1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LSTM by 4.2%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Multivariate (+ weather, calendar)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38.5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38.6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4EFE6"/>
                          </a:solidFill>
                          <a:latin typeface="Calibri"/>
                        </a:rPr>
                        <a:t>LSTM by 0.3%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93192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Same code, same evaluation — </a:t>
            </a:r>
            <a:r>
              <a:rPr sz="1550">
                <a:solidFill>
                  <a:srgbClr val="F4EFE6"/>
                </a:solidFill>
                <a:latin typeface="Calibri"/>
              </a:rPr>
              <a:t>the only thing that changed is the dataset.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The lesson — </a:t>
            </a:r>
            <a:r>
              <a:rPr sz="1550">
                <a:solidFill>
                  <a:srgbClr val="F4EFE6"/>
                </a:solidFill>
                <a:latin typeface="Calibri"/>
              </a:rPr>
              <a:t>one dataset cannot settle “LSTM vs boosting” — the question is empirical, and this project measures it instead of asserting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Capital Bikeshare hourly · identical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09 · THE ABLATION THAT SETTLED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The calendar is the signal. The weather is noise that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463040"/>
                <a:gridCol w="146304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EFE6"/>
                          </a:solidFill>
                          <a:latin typeface="Calibri"/>
                        </a:rPr>
                        <a:t>LSTM MAE</a:t>
                      </a:r>
                    </a:p>
                  </a:txBody>
                  <a:tcPr marT="50800" marB="50800">
                    <a:solidFill>
                      <a:srgbClr val="101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Past traffic only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228.8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Past traffic only (control)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229.8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Traffic + calendar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201.4  ✓ best LSTM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Traffic + calendar + weather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241.1  ✗ overfit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Traffic + calendar + weather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EFE6"/>
                          </a:solidFill>
                          <a:latin typeface="Calibri"/>
                        </a:rPr>
                        <a:t>206.0</a:t>
                      </a:r>
                    </a:p>
                  </a:txBody>
                  <a:tcPr marT="50800" marB="50800">
                    <a:solidFill>
                      <a:srgbClr val="0B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400">
                <a:solidFill>
                  <a:srgbClr val="2EC4B6"/>
                </a:solidFill>
                <a:latin typeface="Calibri"/>
              </a:rPr>
              <a:t>▸ The control proves it — </a:t>
            </a:r>
            <a:r>
              <a:rPr sz="1400">
                <a:solidFill>
                  <a:srgbClr val="F4EFE6"/>
                </a:solidFill>
                <a:latin typeface="Calibri"/>
              </a:rPr>
              <a:t>same network, stronger dropout, no new features: 229.8 — nothing moves. It was never about regularisation.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400">
                <a:solidFill>
                  <a:srgbClr val="2EC4B6"/>
                </a:solidFill>
                <a:latin typeface="Calibri"/>
              </a:rPr>
              <a:t>▸ Why weather hurts — </a:t>
            </a:r>
            <a:r>
              <a:rPr sz="1400">
                <a:solidFill>
                  <a:srgbClr val="F4EFE6"/>
                </a:solidFill>
                <a:latin typeface="Calibri"/>
              </a:rPr>
              <a:t>rain_1h and snow_1h are zero nearly every hour — parameters to overfit, no information to use. XGBoost ignores the column (154.3 with or without); the LSTM overfits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Validation loss bottomed at epoch 7 of 12 on the weather run — the signature of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10 · OPENING THE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Every gate, every neuron, replayed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NumPy replay of the LSTM cell — </a:t>
            </a:r>
            <a:r>
              <a:rPr sz="1550">
                <a:solidFill>
                  <a:srgbClr val="F4EFE6"/>
                </a:solidFill>
                <a:latin typeface="Calibri"/>
              </a:rPr>
              <a:t>z = x·W + h·U + b → i, f, g, o gates; c = f·c + i·g; h = o·tanh(c) — re-implemented from the trained weights.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Verified, not illustrative — </a:t>
            </a:r>
            <a:r>
              <a:rPr sz="1550">
                <a:solidFill>
                  <a:srgbClr val="F4EFE6"/>
                </a:solidFill>
                <a:latin typeface="Calibri"/>
              </a:rPr>
              <a:t>the replay is checked against Keras on every export: max absolute difference 1.17e-7 — floating-point noise.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96 neuron profiles — </a:t>
            </a:r>
            <a:r>
              <a:rPr sz="1550">
                <a:solidFill>
                  <a:srgbClr val="F4EFE6"/>
                </a:solidFill>
                <a:latin typeface="Calibri"/>
              </a:rPr>
              <a:t>each unit gets its firing trace, memory score (mean forget gate), and a role label.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Rush hour vs quiet night — </a:t>
            </a:r>
            <a:r>
              <a:rPr sz="1550">
                <a:solidFill>
                  <a:srgbClr val="F4EFE6"/>
                </a:solidFill>
                <a:latin typeface="Calibri"/>
              </a:rPr>
              <a:t>different subsets of units light up in different regimes — the network has specialised, and you can 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Obsidian vault: 115 notes · 27 canvases · 990 wikilinks, 0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11 · THE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Jam the intersection. Watch it think.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2D intersection, real rules — </a:t>
            </a:r>
            <a:r>
              <a:rPr sz="1500">
                <a:solidFill>
                  <a:srgbClr val="F4EFE6"/>
                </a:solidFill>
                <a:latin typeface="Calibri"/>
              </a:rPr>
              <a:t>three lanes per approach — left / straight / right; cars stop at red, queue behind each other, and wait for their arrow.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Pedestrian crosswalks — </a:t>
            </a:r>
            <a:r>
              <a:rPr sz="1500">
                <a:solidFill>
                  <a:srgbClr val="F4EFE6"/>
                </a:solidFill>
                <a:latin typeface="Calibri"/>
              </a:rPr>
              <a:t>press NS or EW — the button lights up and the next all-red becomes a walk phase.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Traffic jams on demand — </a:t>
            </a:r>
            <a:r>
              <a:rPr sz="1500">
                <a:solidFill>
                  <a:srgbClr val="F4EFE6"/>
                </a:solidFill>
                <a:latin typeface="Calibri"/>
              </a:rPr>
              <a:t>inject 15–25 vehicles into one approach and watch queues form.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The decision brain — </a:t>
            </a:r>
            <a:r>
              <a:rPr sz="1500">
                <a:solidFill>
                  <a:srgbClr val="F4EFE6"/>
                </a:solidFill>
                <a:latin typeface="Calibri"/>
              </a:rPr>
              <a:t>live LSTM gates (forget / input / output), a neural graph that lights up, and a step-by-step decision trace: sense queue → update memory → forecast → stretch green.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500">
                <a:solidFill>
                  <a:srgbClr val="2EC4B6"/>
                </a:solidFill>
                <a:latin typeface="Calibri"/>
              </a:rPr>
              <a:t>▸ Adaptive green — </a:t>
            </a:r>
            <a:r>
              <a:rPr sz="1500">
                <a:solidFill>
                  <a:srgbClr val="F4EFE6"/>
                </a:solidFill>
                <a:latin typeface="Calibri"/>
              </a:rPr>
              <a:t>green time follows queue pressure — 4 s minimum up to 16 s under a jam.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Simulation only — no connection to real signals or city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82296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0A202"/>
                </a:solidFill>
                <a:latin typeface="Consolas"/>
              </a:rPr>
              <a:t>12 · WHAT IT CANNOT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FE6"/>
                </a:solidFill>
                <a:latin typeface="Georgia"/>
              </a:rPr>
              <a:t>The honest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It forecasts; it does not control — </a:t>
            </a:r>
            <a:r>
              <a:rPr sz="1550">
                <a:solidFill>
                  <a:srgbClr val="F4EFE6"/>
                </a:solidFill>
                <a:latin typeface="Calibri"/>
              </a:rPr>
              <a:t>the output is a number a controller could consume — this project never touches signal hardware.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First-time events are invisible — </a:t>
            </a:r>
            <a:r>
              <a:rPr sz="1550">
                <a:solidFill>
                  <a:srgbClr val="F4EFE6"/>
                </a:solidFill>
                <a:latin typeface="Calibri"/>
              </a:rPr>
              <a:t>a model trained on history cannot predict the unprecedented.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XGBoost is stronger on the motorway data — </a:t>
            </a:r>
            <a:r>
              <a:rPr sz="1550">
                <a:solidFill>
                  <a:srgbClr val="F4EFE6"/>
                </a:solidFill>
                <a:latin typeface="Calibri"/>
              </a:rPr>
              <a:t>the LSTM is the interpretable challenger, not the universal champion — and the vault says so in writing.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1550">
                <a:solidFill>
                  <a:srgbClr val="2EC4B6"/>
                </a:solidFill>
                <a:latin typeface="Calibri"/>
              </a:rPr>
              <a:t>▸ Gaps are real — </a:t>
            </a:r>
            <a:r>
              <a:rPr sz="1550">
                <a:solidFill>
                  <a:srgbClr val="F4EFE6"/>
                </a:solidFill>
                <a:latin typeface="Calibri"/>
              </a:rPr>
              <a:t>28.7% of training windows span breaks in the series; disclosed, measured, and guarded — not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alibri"/>
              </a:rPr>
              <a:t>A worse score is often the informative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FA3B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A202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4EFE6"/>
                </a:solidFill>
                <a:latin typeface="Georgia"/>
              </a:rPr>
              <a:t>A forecaster you can interrogate.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F4EFE6"/>
                </a:solidFill>
                <a:latin typeface="Calibri"/>
              </a:rPr>
              <a:t>▸ Stacked LSTM, 24 hours → next-hour vehicles, 61–66% better than naive rules.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F4EFE6"/>
                </a:solidFill>
                <a:latin typeface="Calibri"/>
              </a:rPr>
              <a:t>▸ Causal v2 pipeline: split before fit, zero future leakage, hash-verified packages.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F4EFE6"/>
                </a:solidFill>
                <a:latin typeface="Calibri"/>
              </a:rPr>
              <a:t>▸ The mechanism is the deliverable: gates and neurons replayed and verified to 1e-7.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F4EFE6"/>
                </a:solidFill>
                <a:latin typeface="Calibri"/>
              </a:rPr>
              <a:t>▸ Live demo: an intersection that obeys real traffic rules while the network's thinking stays on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C4B6"/>
                </a:solidFill>
                <a:latin typeface="Consolas"/>
              </a:rPr>
              <a:t>github.com/GirardRaphael/lstm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